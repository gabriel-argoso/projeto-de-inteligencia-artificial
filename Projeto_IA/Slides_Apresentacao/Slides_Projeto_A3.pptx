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/Vcltck08l0H841fq6KuS5Ksf6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4" name="Bruno"/>
  <p:cmAuthor clrIdx="1" id="1" initials="" lastIdx="2" name="William Gam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529AB0-F3A0-4279-B1C2-7993C475E20D}">
  <a:tblStyle styleId="{D2529AB0-F3A0-4279-B1C2-7993C475E2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Montserrat-italic.fntdata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3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2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5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4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7.xml"/><Relationship Id="rId37" Type="http://customschemas.google.com/relationships/presentationmetadata" Target="metadata"/><Relationship Id="rId14" Type="http://schemas.openxmlformats.org/officeDocument/2006/relationships/slide" Target="slides/slide6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7T23:39:54.437">
    <p:pos x="6000" y="0"/>
    <p:text>Bruno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c7FfW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1-18T16:29:39.632">
    <p:pos x="6000" y="0"/>
    <p:text>Bruno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74"/>
      </p:ext>
    </p:extLst>
  </p:cm>
  <p:cm authorId="1" idx="1" dt="2025-11-18T16:29:22.874">
    <p:pos x="6000" y="0"/>
    <p:text>_Marked as resolved_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wdOlBzE"/>
      </p:ext>
    </p:extLst>
  </p:cm>
  <p:cm authorId="1" idx="2" dt="2025-11-18T16:29:39.632">
    <p:pos x="6000" y="0"/>
    <p:text>_Re-opened_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wdOlBzI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18T00:21:22.324">
    <p:pos x="6000" y="0"/>
    <p:text>Carlos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R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1-18T00:21:28.895">
    <p:pos x="6000" y="0"/>
    <p:text>Carlos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Rw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1-17T23:41:00.551">
    <p:pos x="6000" y="0"/>
    <p:text>Carlos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8A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11-17T23:40:44.184">
    <p:pos x="6000" y="0"/>
    <p:text>Bruno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78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11-18T00:19:21.549">
    <p:pos x="6000" y="0"/>
    <p:text>Ygor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RY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5-11-17T23:44:09.971">
    <p:pos x="6000" y="0"/>
    <p:text>Gabriel Argoso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8E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5-11-18T01:14:08.008">
    <p:pos x="6000" y="0"/>
    <p:text>Gabriel Argoso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Rk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5-11-17T23:42:57.524">
    <p:pos x="6000" y="0"/>
    <p:text>Gabriel Seiji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8Q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5-11-17T23:43:35.268">
    <p:pos x="6000" y="0"/>
    <p:text>Gabriel Seiji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gs8U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5-11-18T00:12:22.701">
    <p:pos x="6000" y="0"/>
    <p:text>Will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Qs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5-11-18T00:12:30.447">
    <p:pos x="6000" y="0"/>
    <p:text>Will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Qw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5-11-18T00:23:42.894">
    <p:pos x="6000" y="0"/>
    <p:text>Will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dAhBS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2570aa57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2570aa57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54e7c59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54e7c59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570aa5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2570aa5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2570aa57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2570aa57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2570aa573_0_2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g3a2570aa573_0_2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g3a2570aa573_0_2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570aa573_0_2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g3a2570aa573_0_2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570aa573_0_2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g3a2570aa573_0_2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g3a2570aa573_0_2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570aa573_0_2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g3a2570aa573_0_2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3a2570aa573_0_2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g3a2570aa573_0_2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2570aa573_0_2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g3a2570aa573_0_2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570aa573_0_2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g3a2570aa573_0_2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g3a2570aa573_0_2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570aa573_0_2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g3a2570aa573_0_2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2570aa573_0_2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2570aa573_0_2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g3a2570aa573_0_2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g3a2570aa573_0_2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g3a2570aa573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570aa573_0_2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g3a2570aa573_0_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570aa573_0_2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g3a2570aa573_0_2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g3a2570aa573_0_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570aa573_0_2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570aa573_0_2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g3a2570aa573_0_2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g3a2570aa573_0_2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hyperlink" Target="https://www.kaggle.com/datasets/metawave/vehicle-price-prediction/data" TargetMode="External"/><Relationship Id="rId5" Type="http://schemas.openxmlformats.org/officeDocument/2006/relationships/hyperlink" Target="https://www.kaggle.com/datasets/pratyushpuri/payment-card-fraud-detection-with-ml-models-202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0.xm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3.xml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918650"/>
            <a:ext cx="9144000" cy="778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PREDIÇÃO DE PREÇOS DE VEÍCULOS USADOS 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CLASSIFICAÇÃO DE FRAUDES DE CARTÃO DE CRÉDITO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194200" y="374075"/>
            <a:ext cx="475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Projeto A3</a:t>
            </a:r>
            <a:endParaRPr b="1" i="0" sz="2600" u="none" cap="none" strike="noStrike">
              <a:solidFill>
                <a:srgbClr val="1D4E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515150" y="2010350"/>
            <a:ext cx="1965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7415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Ciência da Computação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4242650" y="4663350"/>
            <a:ext cx="5100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37415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2025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969450" y="2494750"/>
            <a:ext cx="30564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Bruno Silva Cândido Oliveira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Carlos Diego Ticona Arias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Gabriel Argoso dos Reis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Gabriel Seiji Santos Pereira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Ygor Wladimir Vilaça Carmona Junior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William Fernandes Trindade</a:t>
            </a:r>
            <a:endParaRPr b="0" i="0" sz="1050" u="none" cap="none" strike="noStrike">
              <a:solidFill>
                <a:srgbClr val="4B5563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266350" y="1702250"/>
            <a:ext cx="4611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7415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UNIVERSIDADE SÃO JUDAS TADEU</a:t>
            </a:r>
            <a:endParaRPr b="0"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2570aa573_0_69"/>
          <p:cNvSpPr/>
          <p:nvPr/>
        </p:nvSpPr>
        <p:spPr>
          <a:xfrm>
            <a:off x="311700" y="4037200"/>
            <a:ext cx="4059900" cy="95760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2570aa573_0_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Resumo do Projeto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a2570aa573_0_69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2570aa573_0_69"/>
          <p:cNvSpPr/>
          <p:nvPr/>
        </p:nvSpPr>
        <p:spPr>
          <a:xfrm>
            <a:off x="363275" y="1192325"/>
            <a:ext cx="8577900" cy="11394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13" name="Google Shape;113;g3a2570aa573_0_69"/>
          <p:cNvSpPr/>
          <p:nvPr/>
        </p:nvSpPr>
        <p:spPr>
          <a:xfrm>
            <a:off x="252450" y="3198038"/>
            <a:ext cx="1192500" cy="581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Montserrat"/>
                <a:ea typeface="Montserrat"/>
                <a:cs typeface="Montserrat"/>
                <a:sym typeface="Montserrat"/>
              </a:rPr>
              <a:t>Regressão Linear Múltipla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3a2570aa573_0_69"/>
          <p:cNvSpPr txBox="1"/>
          <p:nvPr/>
        </p:nvSpPr>
        <p:spPr>
          <a:xfrm>
            <a:off x="474725" y="1289675"/>
            <a:ext cx="150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</a:t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g3a2570aa573_0_69"/>
          <p:cNvSpPr txBox="1"/>
          <p:nvPr/>
        </p:nvSpPr>
        <p:spPr>
          <a:xfrm>
            <a:off x="474725" y="1700400"/>
            <a:ext cx="83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• Aplicar técnicas de regressão para prever o </a:t>
            </a: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preço de veículos usados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• Aplicar técnicas de classificação para prever </a:t>
            </a: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fraudes de cartão de crédito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g3a2570aa573_0_69"/>
          <p:cNvSpPr txBox="1"/>
          <p:nvPr/>
        </p:nvSpPr>
        <p:spPr>
          <a:xfrm>
            <a:off x="252450" y="2413013"/>
            <a:ext cx="4755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Técnicas Utilizadas:</a:t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g3a2570aa573_0_69"/>
          <p:cNvSpPr/>
          <p:nvPr/>
        </p:nvSpPr>
        <p:spPr>
          <a:xfrm>
            <a:off x="325717" y="4037200"/>
            <a:ext cx="4074900" cy="95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2570aa573_0_69"/>
          <p:cNvSpPr txBox="1"/>
          <p:nvPr/>
        </p:nvSpPr>
        <p:spPr>
          <a:xfrm>
            <a:off x="428975" y="4117375"/>
            <a:ext cx="397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Dataset: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Preços de Carros Usados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a2570aa573_0_69"/>
          <p:cNvSpPr txBox="1"/>
          <p:nvPr/>
        </p:nvSpPr>
        <p:spPr>
          <a:xfrm>
            <a:off x="428975" y="4456675"/>
            <a:ext cx="217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1.000.000 registros</a:t>
            </a:r>
            <a:endParaRPr b="1" sz="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a2570aa573_0_69"/>
          <p:cNvSpPr txBox="1"/>
          <p:nvPr/>
        </p:nvSpPr>
        <p:spPr>
          <a:xfrm>
            <a:off x="428975" y="4671700"/>
            <a:ext cx="390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https://www.kaggle.com/datasets/metawave/vehicle-price-prediction/data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1" name="Google Shape;121;g3a2570aa573_0_69"/>
          <p:cNvSpPr/>
          <p:nvPr/>
        </p:nvSpPr>
        <p:spPr>
          <a:xfrm>
            <a:off x="1614449" y="3198038"/>
            <a:ext cx="1192500" cy="581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g3a2570aa573_0_69"/>
          <p:cNvSpPr/>
          <p:nvPr/>
        </p:nvSpPr>
        <p:spPr>
          <a:xfrm>
            <a:off x="2976448" y="3198038"/>
            <a:ext cx="1192500" cy="581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Árvore De Decisão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3a2570aa573_0_69"/>
          <p:cNvSpPr/>
          <p:nvPr/>
        </p:nvSpPr>
        <p:spPr>
          <a:xfrm>
            <a:off x="4338447" y="3198038"/>
            <a:ext cx="1192500" cy="581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SVR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a2570aa573_0_69"/>
          <p:cNvSpPr/>
          <p:nvPr/>
        </p:nvSpPr>
        <p:spPr>
          <a:xfrm>
            <a:off x="6133890" y="3198038"/>
            <a:ext cx="1287300" cy="5817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Redes Neurais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g3a2570aa573_0_69"/>
          <p:cNvSpPr/>
          <p:nvPr/>
        </p:nvSpPr>
        <p:spPr>
          <a:xfrm>
            <a:off x="7604250" y="3198038"/>
            <a:ext cx="1287300" cy="5817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Naive Bayes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3a2570aa573_0_69"/>
          <p:cNvSpPr txBox="1"/>
          <p:nvPr/>
        </p:nvSpPr>
        <p:spPr>
          <a:xfrm>
            <a:off x="252450" y="2859700"/>
            <a:ext cx="18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Regressão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a2570aa573_0_69"/>
          <p:cNvSpPr txBox="1"/>
          <p:nvPr/>
        </p:nvSpPr>
        <p:spPr>
          <a:xfrm>
            <a:off x="6133900" y="2859700"/>
            <a:ext cx="18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Classificação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a2570aa573_0_69"/>
          <p:cNvSpPr/>
          <p:nvPr/>
        </p:nvSpPr>
        <p:spPr>
          <a:xfrm>
            <a:off x="4572000" y="4037200"/>
            <a:ext cx="4059900" cy="95760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2570aa573_0_69"/>
          <p:cNvSpPr/>
          <p:nvPr/>
        </p:nvSpPr>
        <p:spPr>
          <a:xfrm>
            <a:off x="4586025" y="4037200"/>
            <a:ext cx="4305600" cy="95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2570aa573_0_69"/>
          <p:cNvSpPr txBox="1"/>
          <p:nvPr/>
        </p:nvSpPr>
        <p:spPr>
          <a:xfrm>
            <a:off x="4586075" y="4037200"/>
            <a:ext cx="46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Dataset: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Fraude de Pagamento de Cartão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a2570aa573_0_69"/>
          <p:cNvSpPr txBox="1"/>
          <p:nvPr/>
        </p:nvSpPr>
        <p:spPr>
          <a:xfrm>
            <a:off x="4591034" y="4399361"/>
            <a:ext cx="3971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2.133 registros sintéticos</a:t>
            </a:r>
            <a:endParaRPr b="1" sz="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g3a2570aa573_0_69"/>
          <p:cNvSpPr txBox="1"/>
          <p:nvPr/>
        </p:nvSpPr>
        <p:spPr>
          <a:xfrm>
            <a:off x="4586075" y="4584700"/>
            <a:ext cx="42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accent1"/>
                </a:solidFill>
              </a:rPr>
              <a:t>https:</a:t>
            </a:r>
            <a:r>
              <a:rPr lang="en" sz="900" u="sng">
                <a:solidFill>
                  <a:schemeClr val="hlink"/>
                </a:solidFill>
                <a:hlinkClick r:id="rId5"/>
              </a:rPr>
              <a:t>//www.kaggle.com/datasets/pratyushpuri/payment-card-fraud-detection-with-ml-models-2025</a:t>
            </a:r>
            <a:endParaRPr sz="900" u="sng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40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Visualização do Dataset: Previsão de Preços de Carros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38" y="1084400"/>
            <a:ext cx="8137874" cy="4009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400175" y="4343400"/>
            <a:ext cx="8520600" cy="572700"/>
          </a:xfrm>
          <a:prstGeom prst="roundRect">
            <a:avLst>
              <a:gd fmla="val 16667" name="adj"/>
            </a:avLst>
          </a:prstGeom>
          <a:solidFill>
            <a:srgbClr val="F69E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14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40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Variáveis Consideradas: Previsão de Preços de Carros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63275" y="1203475"/>
            <a:ext cx="4130400" cy="13683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5975" y="4343400"/>
            <a:ext cx="8520600" cy="5727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dataset reflete correlações realistas considerando depreciação, desgaste e valor de marca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80050" y="1821150"/>
            <a:ext cx="2949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Potência do Motor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80060" y="1321550"/>
            <a:ext cx="52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b="1" i="0" lang="en" sz="2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🔧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80050" y="2158188"/>
            <a:ext cx="25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Cavalos de potência (HP)</a:t>
            </a:r>
            <a:endParaRPr b="0" i="0" sz="9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819025" y="1203475"/>
            <a:ext cx="4130400" cy="13683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935800" y="1821150"/>
            <a:ext cx="2949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Idade do Veículo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935810" y="1321550"/>
            <a:ext cx="52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b="1" i="0" lang="en" sz="2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📅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4935800" y="2158188"/>
            <a:ext cx="25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Anos de uso</a:t>
            </a:r>
            <a:endParaRPr b="0" i="0" sz="9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71525" y="2773438"/>
            <a:ext cx="4130400" cy="13683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488300" y="3391113"/>
            <a:ext cx="2949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Quilometragem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88310" y="2891513"/>
            <a:ext cx="52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b="1" i="0" lang="en" sz="2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🛣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88300" y="3728150"/>
            <a:ext cx="25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Desgaste pelo uso</a:t>
            </a:r>
            <a:endParaRPr b="0" i="0" sz="9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819025" y="2773438"/>
            <a:ext cx="4130400" cy="13683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4935800" y="3391113"/>
            <a:ext cx="2949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Marca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4935810" y="2891513"/>
            <a:ext cx="52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b="1" i="0" lang="en" sz="2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⭐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4935800" y="3728150"/>
            <a:ext cx="25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Popularidade</a:t>
            </a:r>
            <a:endParaRPr b="0" i="0" sz="9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KNN (K-Nearest Neighbors)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78925" y="2487925"/>
            <a:ext cx="4130400" cy="11706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83050" y="38247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D3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83050" y="1226325"/>
            <a:ext cx="8577900" cy="11394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82975" y="1337025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482975" y="1798725"/>
            <a:ext cx="83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Faz previsões baseadas nos 5 vizinhos mais próximos e calcula a média dos preços</a:t>
            </a:r>
            <a:endParaRPr b="0" i="0" sz="13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82975" y="26594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482975" y="30636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Simples de implementar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Captura relações não lineares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758075" y="2487925"/>
            <a:ext cx="4130400" cy="1170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4962125" y="26594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962125" y="30636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Sensível à escala dos dados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Mais lento em grandes conjuntos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3585150" y="38942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b="0" i="0" sz="13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3169925" y="42060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MAE = R$ 2.823,00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3585150" y="45574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Erro: 13,89%</a:t>
            </a:r>
            <a:endParaRPr b="1"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283050" y="1226325"/>
            <a:ext cx="8577900" cy="11394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Regressão Linear Múltipla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78925" y="2487925"/>
            <a:ext cx="4130400" cy="11706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734675" y="2487925"/>
            <a:ext cx="4130400" cy="1170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283050" y="38247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F3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52275" y="1936800"/>
            <a:ext cx="8126700" cy="32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45272"/>
              </a:lnSpc>
              <a:spcBef>
                <a:spcPts val="1518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482975" y="1224038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482975" y="1555500"/>
            <a:ext cx="835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Modelo mais simples que assume relação linear entre variáveis.</a:t>
            </a:r>
            <a:endParaRPr b="0" i="0" sz="12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82975" y="26594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82975" y="30636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Fácil de entender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Rápida para treinar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4962125" y="26594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4962125" y="30636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Não lida bem com relações complexas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3585150" y="38942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b="0" i="0" sz="13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3169925" y="42060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MAE = R$ 3.249,00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3585150" y="45574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Erro: 15,96%</a:t>
            </a:r>
            <a:endParaRPr b="1"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552275" y="1923038"/>
            <a:ext cx="74295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72A9F"/>
                </a:solidFill>
                <a:latin typeface="Courier New"/>
                <a:ea typeface="Courier New"/>
                <a:cs typeface="Courier New"/>
                <a:sym typeface="Courier New"/>
              </a:rPr>
              <a:t>preço = b₀ + b₁*ano + b₂*km + b₃*potência + ...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54e7c591b_0_0"/>
          <p:cNvSpPr/>
          <p:nvPr/>
        </p:nvSpPr>
        <p:spPr>
          <a:xfrm>
            <a:off x="283050" y="1226325"/>
            <a:ext cx="8577900" cy="1274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a54e7c591b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SVR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a54e7c591b_0_0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a54e7c591b_0_0"/>
          <p:cNvSpPr txBox="1"/>
          <p:nvPr/>
        </p:nvSpPr>
        <p:spPr>
          <a:xfrm>
            <a:off x="482975" y="1300188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g3a54e7c591b_0_0"/>
          <p:cNvSpPr txBox="1"/>
          <p:nvPr/>
        </p:nvSpPr>
        <p:spPr>
          <a:xfrm>
            <a:off x="482975" y="1694189"/>
            <a:ext cx="835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SVR é um algoritmo de regressão que busca encontrar uma linha (hiperplano) que melhor </a:t>
            </a: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aproxima</a:t>
            </a: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os dados.</a:t>
            </a:r>
            <a:endParaRPr sz="11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Ele cria uma margem de tolerância e tenta manter o máximo de pontos dentro dessa margem, em que apenas os pontos fora dela interferem.</a:t>
            </a:r>
            <a:endParaRPr sz="11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g3a54e7c591b_0_0"/>
          <p:cNvSpPr/>
          <p:nvPr/>
        </p:nvSpPr>
        <p:spPr>
          <a:xfrm>
            <a:off x="278925" y="2614225"/>
            <a:ext cx="4130400" cy="10902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54e7c591b_0_0"/>
          <p:cNvSpPr/>
          <p:nvPr/>
        </p:nvSpPr>
        <p:spPr>
          <a:xfrm>
            <a:off x="4758075" y="2574325"/>
            <a:ext cx="4130400" cy="11301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a54e7c591b_0_0"/>
          <p:cNvSpPr txBox="1"/>
          <p:nvPr/>
        </p:nvSpPr>
        <p:spPr>
          <a:xfrm>
            <a:off x="482975" y="2620175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6" name="Google Shape;216;g3a54e7c591b_0_0"/>
          <p:cNvSpPr txBox="1"/>
          <p:nvPr/>
        </p:nvSpPr>
        <p:spPr>
          <a:xfrm>
            <a:off x="4962125" y="2614225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7" name="Google Shape;217;g3a54e7c591b_0_0"/>
          <p:cNvSpPr txBox="1"/>
          <p:nvPr/>
        </p:nvSpPr>
        <p:spPr>
          <a:xfrm>
            <a:off x="422275" y="3054175"/>
            <a:ext cx="39873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Funciona bem em datasets com poucos dados e muitas features.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Com kernels, consegue separar até dados não lineares.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g3a54e7c591b_0_0"/>
          <p:cNvSpPr txBox="1"/>
          <p:nvPr/>
        </p:nvSpPr>
        <p:spPr>
          <a:xfrm>
            <a:off x="4962125" y="31095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a54e7c591b_0_0"/>
          <p:cNvSpPr/>
          <p:nvPr/>
        </p:nvSpPr>
        <p:spPr>
          <a:xfrm>
            <a:off x="283050" y="38706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D3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54e7c591b_0_0"/>
          <p:cNvSpPr txBox="1"/>
          <p:nvPr/>
        </p:nvSpPr>
        <p:spPr>
          <a:xfrm>
            <a:off x="3585150" y="39401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b="0" i="0" sz="13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1" name="Google Shape;221;g3a54e7c591b_0_0"/>
          <p:cNvSpPr txBox="1"/>
          <p:nvPr/>
        </p:nvSpPr>
        <p:spPr>
          <a:xfrm>
            <a:off x="3169925" y="42519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MAE =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R$ 10.152,00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a54e7c591b_0_0"/>
          <p:cNvSpPr txBox="1"/>
          <p:nvPr/>
        </p:nvSpPr>
        <p:spPr>
          <a:xfrm>
            <a:off x="3585150" y="46033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Erro: </a:t>
            </a: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50,03%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g3a54e7c591b_0_0"/>
          <p:cNvSpPr txBox="1"/>
          <p:nvPr/>
        </p:nvSpPr>
        <p:spPr>
          <a:xfrm>
            <a:off x="4873650" y="3008715"/>
            <a:ext cx="3987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Pode ser lento para treinar em datasets muito grandes.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Requer escolha cuidadosa de parâmetros e kernel, podendo ser difícil de ajustar.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/>
          <p:nvPr/>
        </p:nvSpPr>
        <p:spPr>
          <a:xfrm>
            <a:off x="283050" y="1226325"/>
            <a:ext cx="8577900" cy="1274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Árvore de Decisão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482975" y="1224038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82975" y="1580613"/>
            <a:ext cx="835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Divide dados em grupos com perguntas do tipo "sim ou não".</a:t>
            </a:r>
            <a:endParaRPr b="0" i="0" sz="12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78925" y="2614225"/>
            <a:ext cx="4130400" cy="10902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758075" y="2574325"/>
            <a:ext cx="4130400" cy="11301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482975" y="27053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962125" y="270530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482975" y="31095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Entende relações complexas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Não precisa de normalização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4962125" y="3109575"/>
            <a:ext cx="2677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Pode sofrer com overfitting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83050" y="38706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D3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3585150" y="39401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b="0" i="0" sz="13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3169925" y="42519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MAE =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R$ 2.066,00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3585150" y="46033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Erro: 10,17%</a:t>
            </a:r>
            <a:endParaRPr b="1"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52275" y="1936800"/>
            <a:ext cx="81267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45272"/>
              </a:lnSpc>
              <a:spcBef>
                <a:spcPts val="1518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552275" y="1925075"/>
            <a:ext cx="61560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"A idade do veículo é menor que 3 anos?"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• "A potência do motor é maior que 200 HP?"</a:t>
            </a:r>
            <a:endParaRPr b="0" i="0" sz="11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Comparação dos Resultados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11"/>
          <p:cNvGraphicFramePr/>
          <p:nvPr/>
        </p:nvGraphicFramePr>
        <p:xfrm>
          <a:off x="952500" y="139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{D2529AB0-F3A0-4279-B1C2-7993C475E20D}</a:tableStyleId>
              </a:tblPr>
              <a:tblGrid>
                <a:gridCol w="2413000"/>
                <a:gridCol w="2413000"/>
                <a:gridCol w="24130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Modelo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Erro (%)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SV</a:t>
                      </a:r>
                      <a:r>
                        <a:rPr lang="en" sz="13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R$ 10.152,00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50,03%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Regressão Linear Múltipla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R$ 3.249,00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15,96%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KNN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R$ 2.823,00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13,89%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Árvore De Decisão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R$ 2.066,00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10,17%</a:t>
                      </a:r>
                      <a:endParaRPr sz="13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11"/>
          <p:cNvSpPr/>
          <p:nvPr/>
        </p:nvSpPr>
        <p:spPr>
          <a:xfrm>
            <a:off x="952500" y="3771450"/>
            <a:ext cx="7296300" cy="1198200"/>
          </a:xfrm>
          <a:prstGeom prst="roundRect">
            <a:avLst>
              <a:gd fmla="val 16667" name="adj"/>
            </a:avLst>
          </a:prstGeom>
          <a:solidFill>
            <a:srgbClr val="7A38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2603100" y="3849800"/>
            <a:ext cx="39378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Modelo Escolhido:</a:t>
            </a:r>
            <a:endParaRPr b="0" i="0" sz="15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2603100" y="4233050"/>
            <a:ext cx="39378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🎯 Árvore de Decisão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2050671" y="4570546"/>
            <a:ext cx="5124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Menor erro e melhor precisão nas previsões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570aa573_0_18"/>
          <p:cNvSpPr txBox="1"/>
          <p:nvPr>
            <p:ph type="title"/>
          </p:nvPr>
        </p:nvSpPr>
        <p:spPr>
          <a:xfrm>
            <a:off x="311700" y="454275"/>
            <a:ext cx="87150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Visualização do Dataset: Fraude de Pagamento de Cartão</a:t>
            </a:r>
            <a:endParaRPr sz="2200"/>
          </a:p>
        </p:txBody>
      </p:sp>
      <p:sp>
        <p:nvSpPr>
          <p:cNvPr id="261" name="Google Shape;261;g3a2570aa573_0_18"/>
          <p:cNvSpPr/>
          <p:nvPr/>
        </p:nvSpPr>
        <p:spPr>
          <a:xfrm>
            <a:off x="371525" y="886277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g3a2570aa573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850" y="1017675"/>
            <a:ext cx="8418900" cy="38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283050" y="1226325"/>
            <a:ext cx="8577900" cy="1274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Redes Neurais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475925" y="1278238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78925" y="2614225"/>
            <a:ext cx="4130400" cy="10902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8075" y="2574325"/>
            <a:ext cx="4130400" cy="11301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439631" y="2582095"/>
            <a:ext cx="398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4933229" y="2571761"/>
            <a:ext cx="398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439625" y="2932227"/>
            <a:ext cx="36966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Capacidade de Modelagem Não-Linear</a:t>
            </a:r>
            <a:endParaRPr b="0" i="0" sz="9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Aprendizado e Generalização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Tolerância a Erros (Robustez)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Processamento de Dados Não Estruturados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4933225" y="2869454"/>
            <a:ext cx="26772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Grande Dependência de Dados</a:t>
            </a:r>
            <a:endParaRPr b="0" i="0" sz="9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Alto Custo Computacional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Overfitting (Sobreajuste)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Seleção de Arquitetura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83050" y="38706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D3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528300" y="1662075"/>
            <a:ext cx="8087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Elas são modelos computacionais inspirados na estrutura e funcionamento do cérebro humano, na forma como os neurônios biológicos processam e transmitem informações.Ele analisa padrões complexos de comportamento das transações para identificar anomalias.</a:t>
            </a:r>
            <a:endParaRPr i="0" sz="10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3585150" y="39401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sz="13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3169925" y="42519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Acur: 99,3%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3585150" y="46033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Erro: 0,7%</a:t>
            </a:r>
            <a:endParaRPr b="1"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283050" y="1226325"/>
            <a:ext cx="8577900" cy="12747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Naive Bayes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71525" y="974200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482975" y="1226319"/>
            <a:ext cx="15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Conceito</a:t>
            </a:r>
            <a:endParaRPr b="0" i="0" sz="1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78925" y="2614225"/>
            <a:ext cx="4130400" cy="1090200"/>
          </a:xfrm>
          <a:prstGeom prst="roundRect">
            <a:avLst>
              <a:gd fmla="val 16667" name="adj"/>
            </a:avLst>
          </a:prstGeom>
          <a:solidFill>
            <a:srgbClr val="DCF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758075" y="2574325"/>
            <a:ext cx="4130400" cy="11301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482975" y="2587318"/>
            <a:ext cx="398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✓ Vantagens</a:t>
            </a:r>
            <a:endParaRPr b="0" i="0" sz="1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4964929" y="2544055"/>
            <a:ext cx="398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✗ Desvantagens</a:t>
            </a:r>
            <a:endParaRPr b="0" i="0" sz="1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482975" y="2938223"/>
            <a:ext cx="31023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Rapidez e Eficiência</a:t>
            </a:r>
            <a:endParaRPr b="0" i="0" sz="9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Bom Desempenho com Pequenos Dados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Eficaz em Dados de Alta Dimensão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Não Afetado por irrelevância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4964925" y="2889364"/>
            <a:ext cx="37167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Suposição de Independência de Atributos</a:t>
            </a:r>
            <a:endParaRPr b="0" i="0" sz="9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Desempenho inferior em </a:t>
            </a: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variáveis</a:t>
            </a: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complexas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Estimativas de Probabilidade Não Confiáveis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Apenas Classificação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283050" y="3870650"/>
            <a:ext cx="8577900" cy="1090200"/>
          </a:xfrm>
          <a:prstGeom prst="roundRect">
            <a:avLst>
              <a:gd fmla="val 16667" name="adj"/>
            </a:avLst>
          </a:prstGeom>
          <a:solidFill>
            <a:srgbClr val="1D3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08650" y="1674663"/>
            <a:ext cx="8126700" cy="61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45272"/>
              </a:lnSpc>
              <a:spcBef>
                <a:spcPts val="1518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508650" y="1642402"/>
            <a:ext cx="8126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Naive Bayes é baseado no Teorema de Bayes, uma fórmula estatística que descreve a probabilidade de uma hipótese ocorrer, dada uma evidência observada. Ele calcula a probabilidade de um determinado ponto de dado pertencer a uma classe específica.</a:t>
            </a:r>
            <a:endParaRPr i="0" sz="11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3585150" y="3940150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Resultado:</a:t>
            </a:r>
            <a:endParaRPr sz="13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3169925" y="4251950"/>
            <a:ext cx="2804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Acur: 94,8%</a:t>
            </a:r>
            <a:endParaRPr b="1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3585150" y="4603325"/>
            <a:ext cx="1973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Erro: 5,2%</a:t>
            </a:r>
            <a:endParaRPr b="1"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2570aa573_0_205"/>
          <p:cNvSpPr txBox="1"/>
          <p:nvPr>
            <p:ph type="title"/>
          </p:nvPr>
        </p:nvSpPr>
        <p:spPr>
          <a:xfrm>
            <a:off x="311700" y="9123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00">
                <a:solidFill>
                  <a:srgbClr val="1D48E6"/>
                </a:solidFill>
                <a:latin typeface="Montserrat"/>
                <a:ea typeface="Montserrat"/>
                <a:cs typeface="Montserrat"/>
                <a:sym typeface="Montserrat"/>
              </a:rPr>
              <a:t>Comparação dos Resultados</a:t>
            </a:r>
            <a:endParaRPr b="1" sz="21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g3a2570aa573_0_205"/>
          <p:cNvSpPr/>
          <p:nvPr/>
        </p:nvSpPr>
        <p:spPr>
          <a:xfrm>
            <a:off x="371525" y="538771"/>
            <a:ext cx="8577900" cy="43500"/>
          </a:xfrm>
          <a:prstGeom prst="rect">
            <a:avLst/>
          </a:prstGeom>
          <a:solidFill>
            <a:srgbClr val="1D48E6"/>
          </a:solidFill>
          <a:ln cap="flat" cmpd="sng" w="9525">
            <a:solidFill>
              <a:srgbClr val="1D4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2570aa573_0_205"/>
          <p:cNvSpPr/>
          <p:nvPr/>
        </p:nvSpPr>
        <p:spPr>
          <a:xfrm>
            <a:off x="923850" y="4064150"/>
            <a:ext cx="7267800" cy="1052100"/>
          </a:xfrm>
          <a:prstGeom prst="roundRect">
            <a:avLst>
              <a:gd fmla="val 16667" name="adj"/>
            </a:avLst>
          </a:prstGeom>
          <a:solidFill>
            <a:srgbClr val="793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a2570aa573_0_205"/>
          <p:cNvSpPr txBox="1"/>
          <p:nvPr/>
        </p:nvSpPr>
        <p:spPr>
          <a:xfrm>
            <a:off x="2967536" y="4170367"/>
            <a:ext cx="3154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🏆 </a:t>
            </a:r>
            <a:r>
              <a:rPr lang="en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Melhor Modelo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0" name="Google Shape;310;g3a2570aa573_0_205"/>
          <p:cNvSpPr txBox="1"/>
          <p:nvPr/>
        </p:nvSpPr>
        <p:spPr>
          <a:xfrm>
            <a:off x="2994750" y="4442881"/>
            <a:ext cx="3154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Rede Neural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g3a2570aa573_0_205"/>
          <p:cNvSpPr txBox="1"/>
          <p:nvPr/>
        </p:nvSpPr>
        <p:spPr>
          <a:xfrm>
            <a:off x="2050671" y="4715396"/>
            <a:ext cx="5124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Melhor acurácia nas predições de classificação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2" name="Google Shape;312;g3a2570aa573_0_2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412" y="734263"/>
            <a:ext cx="6182176" cy="31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 txBox="1"/>
          <p:nvPr/>
        </p:nvSpPr>
        <p:spPr>
          <a:xfrm>
            <a:off x="2781300" y="2340900"/>
            <a:ext cx="35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1D48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Obrigado!</a:t>
            </a:r>
            <a:endParaRPr b="0" i="0" sz="2600" u="none" cap="none" strike="noStrike">
              <a:solidFill>
                <a:srgbClr val="1D48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4009950" y="867500"/>
            <a:ext cx="11241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1" i="0" sz="8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2047800" y="3162300"/>
            <a:ext cx="504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53535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UNIVERSIDADE SÃO JUDAS TADEU</a:t>
            </a:r>
            <a:endParaRPr b="0" i="0" sz="18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2047800" y="3486150"/>
            <a:ext cx="504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3535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Ciência da Computação - 2025</a:t>
            </a:r>
            <a:endParaRPr b="0" i="0" sz="15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